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8f106d1-0a26-2688-58ed-b8fc2dffbb5e}">
          <p14:sldIdLst>
            <p14:sldId id="256"/>
            <p14:sldId id="257"/>
            <p14:sldId id="258"/>
          </p14:sldIdLst>
        </p14:section>
        <p14:section name="Findings" id="{9ce85030-9c72-436e-9da5-db442945573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ashboard and actions" id="{6b73182e-6753-3c6c-1e2d-4e04e7ce3829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F6D8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F6D85"/>
                </a:solidFill>
                <a:latin typeface="+mn-lt"/>
              </a:rPr>
              <a:t>Total revenue by gender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6D8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F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6D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1F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F6D8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F6D85"/>
                </a:solidFill>
                <a:latin typeface="+mn-lt"/>
              </a:rPr>
              <a:t>Total revenue by age group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F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1F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F6D8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F6D85"/>
                </a:solidFill>
                <a:latin typeface="+mn-lt"/>
              </a:rPr>
              <a:t>Customers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8B8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6D8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457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A1F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F6D8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F6D85"/>
                </a:solidFill>
                <a:latin typeface="+mn-lt"/>
              </a:rPr>
              <a:t>Share of purchases made with a discount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F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F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deck walks through what 3,900 customer purchases tell us about spending, loyalty, products and subscriptions, and what we recommend doing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numbers: 3,900 purchases, roughly $233 thousand in revenue, a typical purchase of about $60 and an average rating of 3.75 out of 5. Three takeaways to keep in mind as we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Only the review rating column had gaps, so we filled those 37 values with the category median instead of losing rows. We also created age groups and a purchase-frequency-in-days column, and dropped promo_code_used because it duplicated discount_applied.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 generated $157,890 and women $75,191, so men are about 68 percent of revenue, more than double women. This points to room to grow among female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Young Adults bring in the most revenue at about $62 thousand, and Seniors the least at about $56 thousand. That is only a 10 percent spread, so campaigns should not neglect any age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 are 1,053 customers spending about $59.49 per purchase; non-subscribers are 2,847 customers spending $59.87. Subscribing is not currently linked to higher spend, so the program needs stronger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3,116 customers are Loyal, 701 Returning and only 83 New. Among customers with more than five purchases, 2,518 are not subscribers versus 958 who are, so frequent buyers are a ready audience for subscription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Gloves, Sandals, Boots, Hat and Skirt have the best average ratings. Among best sellers, Jewelry leads Accessories, Blouse and Pants tie in Clothing, Sandals lead Footwear and Jacket leads Outerwear.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Hats, Sneakers, Coats, Sweaters and Pants are sold with a discount in roughly half of purchases. At the same time, 839 customers used a discount and still spent above the average purchase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purchase is $60.48 with Express shipping versus $58.46 with Standard, a difference of about two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lets anyone slice the data by subscription, gender, category and shipping type, and shows headline KPIs plus revenue and sales by category and age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five recommendations: strengthen subscription benefits, reward repeat buyers, review the discount policy, promote the strongest products, and target the highest-value segments while working to grow the female customer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137160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548640" y="315468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Customer Shopping Behavior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13716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Customer Shopping Behavior Analysis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54864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Insights from 3,900 purchases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Python  |  PostgreSQL  |  Power BI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Snapshot of 3,900 purchases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6400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3,900</a:t>
            </a:r>
            <a:endParaRPr lang="en-US" sz="3600" dirty="0"/>
          </a:p>
        </p:txBody>
      </p:sp>
      <p:sp>
        <p:nvSpPr>
          <p:cNvPr id="5" name="Stat label 1"/>
          <p:cNvSpPr txBox="1"/>
          <p:nvPr/>
        </p:nvSpPr>
        <p:spPr>
          <a:xfrm>
            <a:off x="6400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Purchases analyzed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621310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271275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$233K</a:t>
            </a:r>
            <a:endParaRPr lang="en-US" sz="3600" dirty="0"/>
          </a:p>
        </p:txBody>
      </p:sp>
      <p:sp>
        <p:nvSpPr>
          <p:cNvPr id="8" name="Stat label 2"/>
          <p:cNvSpPr txBox="1"/>
          <p:nvPr/>
        </p:nvSpPr>
        <p:spPr>
          <a:xfrm>
            <a:off x="271275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693981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4785421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$59.76</a:t>
            </a:r>
            <a:endParaRPr lang="en-US" sz="3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785421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purchase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766651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Stat value 4"/>
          <p:cNvSpPr txBox="1"/>
          <p:nvPr/>
        </p:nvSpPr>
        <p:spPr>
          <a:xfrm>
            <a:off x="6858091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3.75</a:t>
            </a:r>
            <a:endParaRPr lang="en-US" sz="36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858091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review rating</a:t>
            </a:r>
            <a:endParaRPr lang="en-US" sz="1400" dirty="0"/>
          </a:p>
        </p:txBody>
      </p:sp>
      <p:sp>
        <p:nvSpPr>
          <p:cNvPr id="15" name="Takeaways heading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6" name="Takeaways list"/>
          <p:cNvSpPr txBox="1"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Male customers generate about 68% of revenue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Subscribers spend no more per order than non-subscribers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Five products sell on discount about half the time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we prepared the data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25880"/>
            <a:ext cx="1828800" cy="3200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Step circle 1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heading 1"/>
          <p:cNvSpPr txBox="1"/>
          <p:nvPr/>
        </p:nvSpPr>
        <p:spPr>
          <a:xfrm>
            <a:off x="73152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and inspect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31520" y="274320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Imported 3,900 rows and 18 columns with pandas and reviewed summary statistics.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621310" y="1325880"/>
            <a:ext cx="1828800" cy="3200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Step circle 2"/>
          <p:cNvSpPr/>
          <p:nvPr/>
        </p:nvSpPr>
        <p:spPr>
          <a:xfrm>
            <a:off x="280419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280419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heading 2"/>
          <p:cNvSpPr txBox="1"/>
          <p:nvPr/>
        </p:nvSpPr>
        <p:spPr>
          <a:xfrm>
            <a:off x="280419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2804190" y="274320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Filled 37 missing review ratings with each category's median. Standardized column names.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4693981" y="1325880"/>
            <a:ext cx="1828800" cy="3200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Step circle 3"/>
          <p:cNvSpPr/>
          <p:nvPr/>
        </p:nvSpPr>
        <p:spPr>
          <a:xfrm>
            <a:off x="4876861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number 3"/>
          <p:cNvSpPr txBox="1"/>
          <p:nvPr/>
        </p:nvSpPr>
        <p:spPr>
          <a:xfrm>
            <a:off x="4876861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 heading 3"/>
          <p:cNvSpPr txBox="1"/>
          <p:nvPr/>
        </p:nvSpPr>
        <p:spPr>
          <a:xfrm>
            <a:off x="4876861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features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4876861" y="274320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age_group and purchase_frequency_days. Dropped the redundant promo_code_used.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6766651" y="1325880"/>
            <a:ext cx="1828800" cy="3200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Step circle 4"/>
          <p:cNvSpPr/>
          <p:nvPr/>
        </p:nvSpPr>
        <p:spPr>
          <a:xfrm>
            <a:off x="6949531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ber 4"/>
          <p:cNvSpPr txBox="1"/>
          <p:nvPr/>
        </p:nvSpPr>
        <p:spPr>
          <a:xfrm>
            <a:off x="6949531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 heading 4"/>
          <p:cNvSpPr txBox="1"/>
          <p:nvPr/>
        </p:nvSpPr>
        <p:spPr>
          <a:xfrm>
            <a:off x="6949531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Analyze and show</a:t>
            </a:r>
            <a:endParaRPr lang="en-US" sz="1600" dirty="0"/>
          </a:p>
        </p:txBody>
      </p:sp>
      <p:sp>
        <p:nvSpPr>
          <p:cNvPr id="22" name="Step text 4"/>
          <p:cNvSpPr txBox="1"/>
          <p:nvPr/>
        </p:nvSpPr>
        <p:spPr>
          <a:xfrm>
            <a:off x="6949531" y="274320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Loaded into PostgreSQL, answered 10 business questions, built a Power BI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Men generate two-thirds of revenue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5669280" y="1325880"/>
            <a:ext cx="2926080" cy="320040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Callout value"/>
          <p:cNvSpPr txBox="1"/>
          <p:nvPr/>
        </p:nvSpPr>
        <p:spPr>
          <a:xfrm>
            <a:off x="585216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68%</a:t>
            </a:r>
            <a:endParaRPr lang="en-US" sz="5400" dirty="0"/>
          </a:p>
        </p:txBody>
      </p:sp>
      <p:sp>
        <p:nvSpPr>
          <p:cNvPr id="6" name="Callout label"/>
          <p:cNvSpPr txBox="1"/>
          <p:nvPr/>
        </p:nvSpPr>
        <p:spPr>
          <a:xfrm>
            <a:off x="585216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 revenue comes from male customers</a:t>
            </a:r>
            <a:endParaRPr lang="en-US" sz="1600" dirty="0"/>
          </a:p>
        </p:txBody>
      </p:sp>
      <p:sp>
        <p:nvSpPr>
          <p:cNvPr id="7" name="Callout text"/>
          <p:cNvSpPr txBox="1"/>
          <p:nvPr/>
        </p:nvSpPr>
        <p:spPr>
          <a:xfrm>
            <a:off x="585216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Female customers contribute $75K (32%). Growing this group is a clear opportunity.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Revenue is spread across age groups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6035040" y="132588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Callout value"/>
          <p:cNvSpPr txBox="1"/>
          <p:nvPr/>
        </p:nvSpPr>
        <p:spPr>
          <a:xfrm>
            <a:off x="62179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10%</a:t>
            </a:r>
            <a:endParaRPr lang="en-US" sz="5400" dirty="0"/>
          </a:p>
        </p:txBody>
      </p:sp>
      <p:sp>
        <p:nvSpPr>
          <p:cNvPr id="6" name="Callout label"/>
          <p:cNvSpPr txBox="1"/>
          <p:nvPr/>
        </p:nvSpPr>
        <p:spPr>
          <a:xfrm>
            <a:off x="62179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gap between top and bottom group</a:t>
            </a:r>
            <a:endParaRPr lang="en-US" sz="1600" dirty="0"/>
          </a:p>
        </p:txBody>
      </p:sp>
      <p:sp>
        <p:nvSpPr>
          <p:cNvPr id="7" name="Callout text"/>
          <p:cNvSpPr txBox="1"/>
          <p:nvPr/>
        </p:nvSpPr>
        <p:spPr>
          <a:xfrm>
            <a:off x="62179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Young Adults lead at $62.1K, Seniors trail at $55.8K. No group can be ignored.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Subscribers don't spend more per order</a:t>
            </a:r>
            <a:endParaRPr lang="en-US" sz="3000" dirty="0"/>
          </a:p>
        </p:txBody>
      </p:sp>
      <p:sp>
        <p:nvSpPr>
          <p:cNvPr id="3" name="Subscribers card"/>
          <p:cNvSpPr/>
          <p:nvPr/>
        </p:nvSpPr>
        <p:spPr>
          <a:xfrm>
            <a:off x="548640" y="1325880"/>
            <a:ext cx="38404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Subscribers heading"/>
          <p:cNvSpPr txBox="1"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Subscribers</a:t>
            </a:r>
            <a:endParaRPr lang="en-US" sz="2000" dirty="0"/>
          </a:p>
        </p:txBody>
      </p:sp>
      <p:sp>
        <p:nvSpPr>
          <p:cNvPr id="5" name="Subscribers label 1"/>
          <p:cNvSpPr txBox="1"/>
          <p:nvPr/>
        </p:nvSpPr>
        <p:spPr>
          <a:xfrm>
            <a:off x="82296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Customers</a:t>
            </a:r>
            <a:endParaRPr lang="en-US" sz="1400" dirty="0"/>
          </a:p>
        </p:txBody>
      </p:sp>
      <p:sp>
        <p:nvSpPr>
          <p:cNvPr id="6" name="Subscribers value 1"/>
          <p:cNvSpPr txBox="1"/>
          <p:nvPr/>
        </p:nvSpPr>
        <p:spPr>
          <a:xfrm>
            <a:off x="246888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1,053</a:t>
            </a:r>
            <a:endParaRPr lang="en-US" sz="2400" dirty="0"/>
          </a:p>
        </p:txBody>
      </p:sp>
      <p:sp>
        <p:nvSpPr>
          <p:cNvPr id="7" name="Subscribers label 2"/>
          <p:cNvSpPr txBox="1"/>
          <p:nvPr/>
        </p:nvSpPr>
        <p:spPr>
          <a:xfrm>
            <a:off x="82296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Average spend</a:t>
            </a:r>
            <a:endParaRPr lang="en-US" sz="1400" dirty="0"/>
          </a:p>
        </p:txBody>
      </p:sp>
      <p:sp>
        <p:nvSpPr>
          <p:cNvPr id="8" name="Subscribers value 2"/>
          <p:cNvSpPr txBox="1"/>
          <p:nvPr/>
        </p:nvSpPr>
        <p:spPr>
          <a:xfrm>
            <a:off x="24688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$59.49</a:t>
            </a:r>
            <a:endParaRPr lang="en-US" sz="2400" dirty="0"/>
          </a:p>
        </p:txBody>
      </p:sp>
      <p:sp>
        <p:nvSpPr>
          <p:cNvPr id="9" name="Subscribers label 3"/>
          <p:cNvSpPr txBox="1"/>
          <p:nvPr/>
        </p:nvSpPr>
        <p:spPr>
          <a:xfrm>
            <a:off x="82296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10" name="Subscribers value 3"/>
          <p:cNvSpPr txBox="1"/>
          <p:nvPr/>
        </p:nvSpPr>
        <p:spPr>
          <a:xfrm>
            <a:off x="24688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$62,645</a:t>
            </a:r>
            <a:endParaRPr lang="en-US" sz="2400" dirty="0"/>
          </a:p>
        </p:txBody>
      </p:sp>
      <p:sp>
        <p:nvSpPr>
          <p:cNvPr id="11" name="Non-subscribers card"/>
          <p:cNvSpPr/>
          <p:nvPr/>
        </p:nvSpPr>
        <p:spPr>
          <a:xfrm>
            <a:off x="4754880" y="1325880"/>
            <a:ext cx="38404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2" name="Non-subscribers heading"/>
          <p:cNvSpPr txBox="1"/>
          <p:nvPr/>
        </p:nvSpPr>
        <p:spPr>
          <a:xfrm>
            <a:off x="502920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Non-subscribers</a:t>
            </a:r>
            <a:endParaRPr lang="en-US" sz="2000" dirty="0"/>
          </a:p>
        </p:txBody>
      </p:sp>
      <p:sp>
        <p:nvSpPr>
          <p:cNvPr id="13" name="Non-subscribers label 1"/>
          <p:cNvSpPr txBox="1"/>
          <p:nvPr/>
        </p:nvSpPr>
        <p:spPr>
          <a:xfrm>
            <a:off x="50292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Customers</a:t>
            </a:r>
            <a:endParaRPr lang="en-US" sz="1400" dirty="0"/>
          </a:p>
        </p:txBody>
      </p:sp>
      <p:sp>
        <p:nvSpPr>
          <p:cNvPr id="14" name="Non-subscribers value 1"/>
          <p:cNvSpPr txBox="1"/>
          <p:nvPr/>
        </p:nvSpPr>
        <p:spPr>
          <a:xfrm>
            <a:off x="667512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2,847</a:t>
            </a:r>
            <a:endParaRPr lang="en-US" sz="2400" dirty="0"/>
          </a:p>
        </p:txBody>
      </p:sp>
      <p:sp>
        <p:nvSpPr>
          <p:cNvPr id="15" name="Non-subscribers label 2"/>
          <p:cNvSpPr txBox="1"/>
          <p:nvPr/>
        </p:nvSpPr>
        <p:spPr>
          <a:xfrm>
            <a:off x="502920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Average spend</a:t>
            </a:r>
            <a:endParaRPr lang="en-US" sz="1400" dirty="0"/>
          </a:p>
        </p:txBody>
      </p:sp>
      <p:sp>
        <p:nvSpPr>
          <p:cNvPr id="16" name="Non-subscribers value 2"/>
          <p:cNvSpPr txBox="1"/>
          <p:nvPr/>
        </p:nvSpPr>
        <p:spPr>
          <a:xfrm>
            <a:off x="66751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$59.87</a:t>
            </a:r>
            <a:endParaRPr lang="en-US" sz="2400" dirty="0"/>
          </a:p>
        </p:txBody>
      </p:sp>
      <p:sp>
        <p:nvSpPr>
          <p:cNvPr id="17" name="Non-subscribers label 3"/>
          <p:cNvSpPr txBox="1"/>
          <p:nvPr/>
        </p:nvSpPr>
        <p:spPr>
          <a:xfrm>
            <a:off x="502920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18" name="Non-subscribers value 3"/>
          <p:cNvSpPr txBox="1"/>
          <p:nvPr/>
        </p:nvSpPr>
        <p:spPr>
          <a:xfrm>
            <a:off x="667512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$170,436</a:t>
            </a:r>
            <a:endParaRPr lang="en-US" sz="2400" dirty="0"/>
          </a:p>
        </p:txBody>
      </p:sp>
      <p:sp>
        <p:nvSpPr>
          <p:cNvPr id="19" name="Takeaway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Only 27% of customers subscribe. Perks must give people a real reason to join.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in five customers are loyal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5669280" y="1325880"/>
            <a:ext cx="2926080" cy="320040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Callout value"/>
          <p:cNvSpPr txBox="1"/>
          <p:nvPr/>
        </p:nvSpPr>
        <p:spPr>
          <a:xfrm>
            <a:off x="585216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72%</a:t>
            </a:r>
            <a:endParaRPr lang="en-US" sz="5400" dirty="0"/>
          </a:p>
        </p:txBody>
      </p:sp>
      <p:sp>
        <p:nvSpPr>
          <p:cNvPr id="6" name="Callout label"/>
          <p:cNvSpPr txBox="1"/>
          <p:nvPr/>
        </p:nvSpPr>
        <p:spPr>
          <a:xfrm>
            <a:off x="585216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 repeat buyers are not subscribed</a:t>
            </a:r>
            <a:endParaRPr lang="en-US" sz="1600" dirty="0"/>
          </a:p>
        </p:txBody>
      </p:sp>
      <p:sp>
        <p:nvSpPr>
          <p:cNvPr id="7" name="Callout text"/>
          <p:cNvSpPr txBox="1"/>
          <p:nvPr/>
        </p:nvSpPr>
        <p:spPr>
          <a:xfrm>
            <a:off x="5852160" y="3200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2,518 of 3,476 customers with more than 5 purchases have no subscription. Buying often doesn't lead to subscribing on its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Top-rated and best-selling products</a:t>
            </a:r>
            <a:endParaRPr lang="en-US" sz="3000" dirty="0"/>
          </a:p>
        </p:txBody>
      </p:sp>
      <p:sp>
        <p:nvSpPr>
          <p:cNvPr id="3" name="Rating table heading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Highest average rating</a:t>
            </a:r>
            <a:endParaRPr lang="en-US" sz="1800" dirty="0"/>
          </a:p>
        </p:txBody>
      </p:sp>
      <p:graphicFrame>
        <p:nvGraphicFramePr>
          <p:cNvPr id="9" name="Ra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3840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Rating (of 5)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Gloves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Sandals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Boots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Skirt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3.78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eller table heading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Best seller in each category</a:t>
            </a:r>
            <a:endParaRPr lang="en-US" sz="1800" dirty="0"/>
          </a:p>
        </p:txBody>
      </p:sp>
      <p:graphicFrame>
        <p:nvGraphicFramePr>
          <p:cNvPr id="17" name="Sell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91640"/>
          <a:ext cx="3840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916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Accessories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Jewelry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Clothing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Blouse / Pants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Footwear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Sandals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Outerwear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Jacket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akeaway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Ratings sit in a narrow 3.78 to 3.86 band, so no single product stands out. Feature both the top-rated and best-selling items in campaigns.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products rely on discounts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6035040" y="132588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Callout value"/>
          <p:cNvSpPr txBox="1"/>
          <p:nvPr/>
        </p:nvSpPr>
        <p:spPr>
          <a:xfrm>
            <a:off x="62179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839</a:t>
            </a:r>
            <a:endParaRPr lang="en-US" sz="5400" dirty="0"/>
          </a:p>
        </p:txBody>
      </p:sp>
      <p:sp>
        <p:nvSpPr>
          <p:cNvPr id="6" name="Callout label"/>
          <p:cNvSpPr txBox="1"/>
          <p:nvPr/>
        </p:nvSpPr>
        <p:spPr>
          <a:xfrm>
            <a:off x="62179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discount users still spent above average</a:t>
            </a:r>
            <a:endParaRPr lang="en-US" sz="1600" dirty="0"/>
          </a:p>
        </p:txBody>
      </p:sp>
      <p:sp>
        <p:nvSpPr>
          <p:cNvPr id="7" name="Callout text"/>
          <p:cNvSpPr txBox="1"/>
          <p:nvPr/>
        </p:nvSpPr>
        <p:spPr>
          <a:xfrm>
            <a:off x="62179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Discounts attract more than bargain hunters, but watch the margin.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Express shoppers spend about $2 more</a:t>
            </a:r>
            <a:endParaRPr lang="en-US" sz="3000" dirty="0"/>
          </a:p>
        </p:txBody>
      </p:sp>
      <p:sp>
        <p:nvSpPr>
          <p:cNvPr id="3" name="Standard shipping card"/>
          <p:cNvSpPr/>
          <p:nvPr/>
        </p:nvSpPr>
        <p:spPr>
          <a:xfrm>
            <a:off x="548640" y="1325880"/>
            <a:ext cx="3017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Standard shipping label"/>
          <p:cNvSpPr txBox="1"/>
          <p:nvPr/>
        </p:nvSpPr>
        <p:spPr>
          <a:xfrm>
            <a:off x="8229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Standard shipping</a:t>
            </a:r>
            <a:endParaRPr lang="en-US" sz="1800" dirty="0"/>
          </a:p>
        </p:txBody>
      </p:sp>
      <p:sp>
        <p:nvSpPr>
          <p:cNvPr id="5" name="Standard shipping value"/>
          <p:cNvSpPr txBox="1"/>
          <p:nvPr/>
        </p:nvSpPr>
        <p:spPr>
          <a:xfrm>
            <a:off x="822960" y="2057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$58.46</a:t>
            </a:r>
            <a:endParaRPr lang="en-US" sz="4800" dirty="0"/>
          </a:p>
        </p:txBody>
      </p:sp>
      <p:sp>
        <p:nvSpPr>
          <p:cNvPr id="6" name="Standard shipping caption"/>
          <p:cNvSpPr txBox="1"/>
          <p:nvPr/>
        </p:nvSpPr>
        <p:spPr>
          <a:xfrm>
            <a:off x="8229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average purchase</a:t>
            </a:r>
            <a:endParaRPr lang="en-US" sz="1400" dirty="0"/>
          </a:p>
        </p:txBody>
      </p:sp>
      <p:sp>
        <p:nvSpPr>
          <p:cNvPr id="7" name="Express shipping card"/>
          <p:cNvSpPr/>
          <p:nvPr/>
        </p:nvSpPr>
        <p:spPr>
          <a:xfrm>
            <a:off x="5577840" y="1325880"/>
            <a:ext cx="3017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Express shipping label"/>
          <p:cNvSpPr txBox="1"/>
          <p:nvPr/>
        </p:nvSpPr>
        <p:spPr>
          <a:xfrm>
            <a:off x="58521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Express shipping</a:t>
            </a:r>
            <a:endParaRPr lang="en-US" sz="1800" dirty="0"/>
          </a:p>
        </p:txBody>
      </p:sp>
      <p:sp>
        <p:nvSpPr>
          <p:cNvPr id="9" name="Express shipping value"/>
          <p:cNvSpPr txBox="1"/>
          <p:nvPr/>
        </p:nvSpPr>
        <p:spPr>
          <a:xfrm>
            <a:off x="5852160" y="2057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$60.48</a:t>
            </a:r>
            <a:endParaRPr lang="en-US" sz="4800" dirty="0"/>
          </a:p>
        </p:txBody>
      </p:sp>
      <p:sp>
        <p:nvSpPr>
          <p:cNvPr id="10" name="Express shipping caption"/>
          <p:cNvSpPr txBox="1"/>
          <p:nvPr/>
        </p:nvSpPr>
        <p:spPr>
          <a:xfrm>
            <a:off x="58521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average purchase</a:t>
            </a:r>
            <a:endParaRPr lang="en-US" sz="1400" dirty="0"/>
          </a:p>
        </p:txBody>
      </p:sp>
      <p:sp>
        <p:nvSpPr>
          <p:cNvPr id="11" name="Difference value"/>
          <p:cNvSpPr txBox="1"/>
          <p:nvPr/>
        </p:nvSpPr>
        <p:spPr>
          <a:xfrm>
            <a:off x="356616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+$2.02</a:t>
            </a:r>
            <a:endParaRPr lang="en-US" sz="3200" dirty="0"/>
          </a:p>
        </p:txBody>
      </p:sp>
      <p:sp>
        <p:nvSpPr>
          <p:cNvPr id="12" name="Difference caption"/>
          <p:cNvSpPr txBox="1"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 purchase</a:t>
            </a:r>
            <a:endParaRPr lang="en-US" sz="1400" dirty="0"/>
          </a:p>
        </p:txBody>
      </p:sp>
      <p:sp>
        <p:nvSpPr>
          <p:cNvPr id="13" name="Takeaway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small gap, but Express buyers are a natural audience for targeted offers and premium services.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Interactive Power BI dashboard</a:t>
            </a:r>
            <a:endParaRPr lang="en-US" sz="3000" dirty="0"/>
          </a:p>
        </p:txBody>
      </p:sp>
      <p:pic>
        <p:nvPicPr>
          <p:cNvPr id="3" name="Dashboard screenshot" descr="Customer Behavior Dashboard in Power BI showing customers, average purchase, rating and revenue by category and age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18211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1F2B">
                <a:alpha val="25000"/>
              </a:srgbClr>
            </a:outerShdw>
          </a:effectLst>
        </p:spPr>
      </p:pic>
      <p:sp>
        <p:nvSpPr>
          <p:cNvPr id="4" name="Dashboard points"/>
          <p:cNvSpPr txBox="1"/>
          <p:nvPr/>
        </p:nvSpPr>
        <p:spPr>
          <a:xfrm>
            <a:off x="6263640" y="128016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 by subscription, gender, category and shipping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 customers, average spend and rating at a glance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revenue and sales by category and age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ways to act on the findings</a:t>
            </a:r>
            <a:endParaRPr lang="en-US" sz="3000" dirty="0"/>
          </a:p>
        </p:txBody>
      </p:sp>
      <p:sp>
        <p:nvSpPr>
          <p:cNvPr id="3" name="Recommendation card 1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4" name="Recommendation circle 1"/>
          <p:cNvSpPr/>
          <p:nvPr/>
        </p:nvSpPr>
        <p:spPr>
          <a:xfrm>
            <a:off x="685800" y="1380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ecommendation number 1"/>
          <p:cNvSpPr txBox="1"/>
          <p:nvPr/>
        </p:nvSpPr>
        <p:spPr>
          <a:xfrm>
            <a:off x="685800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ecommendation heading 1"/>
          <p:cNvSpPr txBox="1"/>
          <p:nvPr/>
        </p:nvSpPr>
        <p:spPr>
          <a:xfrm>
            <a:off x="1234440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Grow subscriptions</a:t>
            </a:r>
            <a:endParaRPr lang="en-US" sz="1600" dirty="0"/>
          </a:p>
        </p:txBody>
      </p:sp>
      <p:sp>
        <p:nvSpPr>
          <p:cNvPr id="7" name="Recommendation text 1"/>
          <p:cNvSpPr txBox="1"/>
          <p:nvPr/>
        </p:nvSpPr>
        <p:spPr>
          <a:xfrm>
            <a:off x="3200400" y="12801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Offer real perks, like exclusive deals or free shipping, to make joining worthwhile.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548640" y="192024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9" name="Recommendation circle 2"/>
          <p:cNvSpPr/>
          <p:nvPr/>
        </p:nvSpPr>
        <p:spPr>
          <a:xfrm>
            <a:off x="685800" y="20208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ecommendation number 2"/>
          <p:cNvSpPr txBox="1"/>
          <p:nvPr/>
        </p:nvSpPr>
        <p:spPr>
          <a:xfrm>
            <a:off x="68580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Recommendation heading 2"/>
          <p:cNvSpPr txBox="1"/>
          <p:nvPr/>
        </p:nvSpPr>
        <p:spPr>
          <a:xfrm>
            <a:off x="1234440" y="1920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Reward loyalty</a:t>
            </a:r>
            <a:endParaRPr lang="en-US" sz="1600" dirty="0"/>
          </a:p>
        </p:txBody>
      </p:sp>
      <p:sp>
        <p:nvSpPr>
          <p:cNvPr id="12" name="Recommendation text 2"/>
          <p:cNvSpPr txBox="1"/>
          <p:nvPr/>
        </p:nvSpPr>
        <p:spPr>
          <a:xfrm>
            <a:off x="3200400" y="192024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Launch a loyalty program that moves Returning customers into the Loyal tier.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548640" y="256032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4" name="Recommendation circle 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ecommendation number 3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Recommendation heading 3"/>
          <p:cNvSpPr txBox="1"/>
          <p:nvPr/>
        </p:nvSpPr>
        <p:spPr>
          <a:xfrm>
            <a:off x="1234440" y="25603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Rethink discounts</a:t>
            </a:r>
            <a:endParaRPr lang="en-US" sz="1600" dirty="0"/>
          </a:p>
        </p:txBody>
      </p:sp>
      <p:sp>
        <p:nvSpPr>
          <p:cNvPr id="17" name="Recommendation text 3"/>
          <p:cNvSpPr txBox="1"/>
          <p:nvPr/>
        </p:nvSpPr>
        <p:spPr>
          <a:xfrm>
            <a:off x="3200400" y="256032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that heavy discounting on Hats, Sneakers and Coats isn't eroding margin.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548640" y="320040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9" name="Recommendation circle 4"/>
          <p:cNvSpPr/>
          <p:nvPr/>
        </p:nvSpPr>
        <p:spPr>
          <a:xfrm>
            <a:off x="685800" y="3300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Recommendation number 4"/>
          <p:cNvSpPr txBox="1"/>
          <p:nvPr/>
        </p:nvSpPr>
        <p:spPr>
          <a:xfrm>
            <a:off x="68580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Recommendation heading 4"/>
          <p:cNvSpPr txBox="1"/>
          <p:nvPr/>
        </p:nvSpPr>
        <p:spPr>
          <a:xfrm>
            <a:off x="1234440" y="3200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Promote winners</a:t>
            </a:r>
            <a:endParaRPr lang="en-US" sz="1600" dirty="0"/>
          </a:p>
        </p:txBody>
      </p:sp>
      <p:sp>
        <p:nvSpPr>
          <p:cNvPr id="22" name="Recommendation text 4"/>
          <p:cNvSpPr txBox="1"/>
          <p:nvPr/>
        </p:nvSpPr>
        <p:spPr>
          <a:xfrm>
            <a:off x="3200400" y="320040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top-rated and best-selling products in campaigns.</a:t>
            </a:r>
            <a:endParaRPr lang="en-US" sz="1400" dirty="0"/>
          </a:p>
        </p:txBody>
      </p:sp>
      <p:sp>
        <p:nvSpPr>
          <p:cNvPr id="23" name="Recommendation card 5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24" name="Recommendation circle 5"/>
          <p:cNvSpPr/>
          <p:nvPr/>
        </p:nvSpPr>
        <p:spPr>
          <a:xfrm>
            <a:off x="685800" y="39410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Recommendation number 5"/>
          <p:cNvSpPr txBox="1"/>
          <p:nvPr/>
        </p:nvSpPr>
        <p:spPr>
          <a:xfrm>
            <a:off x="68580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Recommendation heading 5"/>
          <p:cNvSpPr txBox="1"/>
          <p:nvPr/>
        </p:nvSpPr>
        <p:spPr>
          <a:xfrm>
            <a:off x="1234440" y="3840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 smartly</a:t>
            </a:r>
            <a:endParaRPr lang="en-US" sz="1600" dirty="0"/>
          </a:p>
        </p:txBody>
      </p:sp>
      <p:sp>
        <p:nvSpPr>
          <p:cNvPr id="27" name="Recommendation text 5"/>
          <p:cNvSpPr txBox="1"/>
          <p:nvPr/>
        </p:nvSpPr>
        <p:spPr>
          <a:xfrm>
            <a:off x="3200400" y="384048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 on top-revenue age groups and Express shoppers, and grow the female customer 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13716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54864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Questions and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Insights">
  <a:themeElements>
    <a:clrScheme name="Retail Insights">
      <a:dk1>
        <a:srgbClr val="1A1F2B"/>
      </a:dk1>
      <a:lt1>
        <a:srgbClr val="FFFFFF"/>
      </a:lt1>
      <a:dk2>
        <a:srgbClr val="12333D"/>
      </a:dk2>
      <a:lt2>
        <a:srgbClr val="EEF3F5"/>
      </a:lt2>
      <a:accent1>
        <a:srgbClr val="0F8B8D"/>
      </a:accent1>
      <a:accent2>
        <a:srgbClr val="E4572E"/>
      </a:accent2>
      <a:accent3>
        <a:srgbClr val="F2A541"/>
      </a:accent3>
      <a:accent4>
        <a:srgbClr val="4F6D85"/>
      </a:accent4>
      <a:accent5>
        <a:srgbClr val="8AA29E"/>
      </a:accent5>
      <a:accent6>
        <a:srgbClr val="9DB4C0"/>
      </a:accent6>
      <a:hlink>
        <a:srgbClr val="0F8B8D"/>
      </a:hlink>
      <a:folHlink>
        <a:srgbClr val="4F6D85"/>
      </a:folHlink>
    </a:clrScheme>
    <a:fontScheme name="Retail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Analytics Team</dc:creator>
  <cp:lastModifiedBy>Analytics Team</cp:lastModifiedBy>
  <cp:revision>1</cp:revision>
  <dcterms:created xsi:type="dcterms:W3CDTF">2026-10-09T13:04:37Z</dcterms:created>
  <dcterms:modified xsi:type="dcterms:W3CDTF">2026-10-09T13:04:37Z</dcterms:modified>
</cp:coreProperties>
</file>